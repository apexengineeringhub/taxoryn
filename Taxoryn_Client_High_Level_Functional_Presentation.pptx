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TAXORYN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92D4B"/>
                </a:solidFill>
                <a:latin typeface="Aptos"/>
              </a:rPr>
              <a:t>Tax Practice Management — Made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12848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47080"/>
                </a:solidFill>
                <a:latin typeface="Aptos"/>
              </a:rPr>
              <a:t>A single place to manage clients, GST, ITR, tasks, documents, billing and deadlines.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657600"/>
            <a:ext cx="658368" cy="658368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675887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07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2D4B"/>
                </a:solidFill>
                <a:latin typeface="Aptos"/>
              </a:rPr>
              <a:t>Clients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3657600"/>
            <a:ext cx="658368" cy="658368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3675887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407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2D4B"/>
                </a:solidFill>
                <a:latin typeface="Aptos"/>
              </a:rPr>
              <a:t>GST</a:t>
            </a:r>
          </a:p>
        </p:txBody>
      </p:sp>
      <p:sp>
        <p:nvSpPr>
          <p:cNvPr id="13" name="Oval 12"/>
          <p:cNvSpPr/>
          <p:nvPr/>
        </p:nvSpPr>
        <p:spPr>
          <a:xfrm>
            <a:off x="4343400" y="3657600"/>
            <a:ext cx="658368" cy="658368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675887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407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2D4B"/>
                </a:solidFill>
                <a:latin typeface="Aptos"/>
              </a:rPr>
              <a:t>ITR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3657600"/>
            <a:ext cx="658368" cy="658368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675887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407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2D4B"/>
                </a:solidFill>
                <a:latin typeface="Aptos"/>
              </a:rPr>
              <a:t>Tasks</a:t>
            </a:r>
          </a:p>
        </p:txBody>
      </p:sp>
      <p:sp>
        <p:nvSpPr>
          <p:cNvPr id="19" name="Oval 18"/>
          <p:cNvSpPr/>
          <p:nvPr/>
        </p:nvSpPr>
        <p:spPr>
          <a:xfrm>
            <a:off x="8001000" y="3657600"/>
            <a:ext cx="658368" cy="658368"/>
          </a:xfrm>
          <a:prstGeom prst="ellipse">
            <a:avLst/>
          </a:prstGeom>
          <a:solidFill>
            <a:srgbClr val="32AFBE"/>
          </a:solidFill>
          <a:ln>
            <a:solidFill>
              <a:srgbClr val="32A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3675887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407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2D4B"/>
                </a:solidFill>
                <a:latin typeface="Aptos"/>
              </a:rPr>
              <a:t>Documents</a:t>
            </a:r>
          </a:p>
        </p:txBody>
      </p:sp>
      <p:sp>
        <p:nvSpPr>
          <p:cNvPr id="22" name="Oval 21"/>
          <p:cNvSpPr/>
          <p:nvPr/>
        </p:nvSpPr>
        <p:spPr>
          <a:xfrm>
            <a:off x="9829800" y="3657600"/>
            <a:ext cx="658368" cy="658368"/>
          </a:xfrm>
          <a:prstGeom prst="ellipse">
            <a:avLst/>
          </a:prstGeom>
          <a:solidFill>
            <a:srgbClr val="D74B4B"/>
          </a:solidFill>
          <a:ln>
            <a:solidFill>
              <a:srgbClr val="D7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3675887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407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2D4B"/>
                </a:solidFill>
                <a:latin typeface="Aptos"/>
              </a:rPr>
              <a:t>Deadlines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99032" y="3986784"/>
            <a:ext cx="1069848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27832" y="3986784"/>
            <a:ext cx="1069848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56632" y="3986784"/>
            <a:ext cx="1069848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85432" y="3986784"/>
            <a:ext cx="1069847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714232" y="3986784"/>
            <a:ext cx="1069848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58978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47080"/>
                </a:solidFill>
                <a:latin typeface="Aptos"/>
              </a:rPr>
              <a:t>Client-friendly overview • No technical jargon • Focus on business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Today’s work is spread across too many 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Tax work becomes difficult when information, people and deadlines are disconnected.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487168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2304288"/>
            <a:ext cx="749808" cy="749808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322576"/>
            <a:ext cx="749808" cy="731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46120"/>
            <a:ext cx="2084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Files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193852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080"/>
                </a:solidFill>
                <a:latin typeface="Aptos"/>
              </a:rPr>
              <a:t>Documents can sit in email, folders and local drives.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65960"/>
            <a:ext cx="2487168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2304288"/>
            <a:ext cx="749808" cy="749808"/>
          </a:xfrm>
          <a:prstGeom prst="ellipse">
            <a:avLst/>
          </a:prstGeom>
          <a:solidFill>
            <a:srgbClr val="D74B4B"/>
          </a:solidFill>
          <a:ln>
            <a:solidFill>
              <a:srgbClr val="D7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322576"/>
            <a:ext cx="749808" cy="731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246120"/>
            <a:ext cx="2084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Deadlines to 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767328"/>
            <a:ext cx="193852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080"/>
                </a:solidFill>
                <a:latin typeface="Aptos"/>
              </a:rPr>
              <a:t>Many GST / ITR / compliance dates need follow-up.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965960"/>
            <a:ext cx="2487168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78040" y="2304288"/>
            <a:ext cx="749808" cy="749808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322576"/>
            <a:ext cx="749808" cy="731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246120"/>
            <a:ext cx="2084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Work is hard to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67328"/>
            <a:ext cx="193852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080"/>
                </a:solidFill>
                <a:latin typeface="Aptos"/>
              </a:rPr>
              <a:t>It is not always clear who is doing what.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965960"/>
            <a:ext cx="2487168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12680" y="2304288"/>
            <a:ext cx="749808" cy="749808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322576"/>
            <a:ext cx="749808" cy="731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3246120"/>
            <a:ext cx="2084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Status is unclear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767328"/>
            <a:ext cx="193852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080"/>
                </a:solidFill>
                <a:latin typeface="Aptos"/>
              </a:rPr>
              <a:t>Partner may need to ask for updates manually.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D73D2"/>
                </a:solidFill>
                <a:latin typeface="Aptos"/>
              </a:rPr>
              <a:t>The goal: move from “Where is it?” → “What needs attention?”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One simple control room for the tax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Taxoryn connects the daily work of the practice in one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3317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92D4B"/>
          </a:solidFill>
          <a:ln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58775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TAXORYN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2D4B"/>
                </a:solidFill>
                <a:latin typeface="Aptos"/>
              </a:rPr>
              <a:t>Clients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395728"/>
            <a:ext cx="1920240" cy="530352"/>
          </a:xfrm>
          <a:prstGeom prst="line">
            <a:avLst/>
          </a:prstGeom>
          <a:ln w="1905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5840" y="420624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6168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2D4B"/>
                </a:solidFill>
                <a:latin typeface="Aptos"/>
              </a:rPr>
              <a:t>GST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828800" y="2926080"/>
            <a:ext cx="1920239" cy="1280160"/>
          </a:xfrm>
          <a:prstGeom prst="line">
            <a:avLst/>
          </a:prstGeom>
          <a:ln w="19050">
            <a:solidFill>
              <a:srgbClr val="32A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52560" y="182880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98424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2D4B"/>
                </a:solidFill>
                <a:latin typeface="Aptos"/>
              </a:rPr>
              <a:t>ITR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498079" y="2395728"/>
            <a:ext cx="2377441" cy="530352"/>
          </a:xfrm>
          <a:prstGeom prst="line">
            <a:avLst/>
          </a:prstGeom>
          <a:ln w="19050">
            <a:solidFill>
              <a:srgbClr val="785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420624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36168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2D4B"/>
                </a:solidFill>
                <a:latin typeface="Aptos"/>
              </a:rPr>
              <a:t>Tasks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7498079" y="2926080"/>
            <a:ext cx="2468881" cy="1280160"/>
          </a:xfrm>
          <a:prstGeom prst="line">
            <a:avLst/>
          </a:prstGeom>
          <a:ln w="1905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0" y="53035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54589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2D4B"/>
                </a:solidFill>
                <a:latin typeface="Aptos"/>
              </a:rPr>
              <a:t>Documents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566160" y="2926080"/>
            <a:ext cx="1920240" cy="2377440"/>
          </a:xfrm>
          <a:prstGeom prst="line">
            <a:avLst/>
          </a:prstGeom>
          <a:ln w="19050">
            <a:solidFill>
              <a:srgbClr val="32A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32320" y="53035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54589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2D4B"/>
                </a:solidFill>
                <a:latin typeface="Aptos"/>
              </a:rPr>
              <a:t>Billing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7498079" y="2926080"/>
            <a:ext cx="457200" cy="2377440"/>
          </a:xfrm>
          <a:prstGeom prst="line">
            <a:avLst/>
          </a:prstGeom>
          <a:ln w="19050">
            <a:solidFill>
              <a:srgbClr val="D7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54880" y="123444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38988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2D4B"/>
                </a:solidFill>
                <a:latin typeface="Aptos"/>
              </a:rPr>
              <a:t>Calendar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577840" y="1801368"/>
            <a:ext cx="1920239" cy="1124712"/>
          </a:xfrm>
          <a:prstGeom prst="line">
            <a:avLst/>
          </a:prstGeom>
          <a:ln w="1905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80160" y="60807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47080"/>
                </a:solidFill>
                <a:latin typeface="Aptos"/>
              </a:rPr>
              <a:t>Simple message for users: “Everything important is connected.”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FUNCTION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Dashboard — see the office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A partner or manager can understand the situation without opening many screens.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2075688"/>
            <a:ext cx="438912" cy="438912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93976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9933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B"/>
                </a:solidFill>
                <a:latin typeface="Aptos"/>
              </a:rPr>
              <a:t>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3317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Who we serve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9312" y="2075688"/>
            <a:ext cx="438912" cy="43891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093976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19933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B"/>
                </a:solidFill>
                <a:latin typeface="Aptos"/>
              </a:rPr>
              <a:t>GST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3317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Due / filed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3952" y="2075688"/>
            <a:ext cx="438912" cy="438912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093976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19933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B"/>
                </a:solidFill>
                <a:latin typeface="Aptos"/>
              </a:rPr>
              <a:t>ITR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3317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Preparation / filed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08592" y="2075688"/>
            <a:ext cx="438912" cy="438912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2093976"/>
            <a:ext cx="438912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19933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B"/>
                </a:solidFill>
                <a:latin typeface="Aptos"/>
              </a:rPr>
              <a:t>Tasks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233172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Open / overdue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29000"/>
            <a:ext cx="72237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74B4B"/>
                </a:solidFill>
                <a:latin typeface="Aptos"/>
              </a:rPr>
              <a:t>TODAY’S ATTENTION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96512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D3A"/>
                </a:solidFill>
                <a:latin typeface="Aptos"/>
              </a:rPr>
              <a:t>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09651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GSTR-3B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4069080"/>
            <a:ext cx="1143000" cy="310896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5112" y="4096512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47080"/>
                </a:solidFill>
                <a:latin typeface="Aptos"/>
              </a:rPr>
              <a:t>Due soon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35424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D3A"/>
                </a:solidFill>
                <a:latin typeface="Aptos"/>
              </a:rPr>
              <a:t>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53542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Client document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4507992"/>
            <a:ext cx="1143000" cy="310896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5112" y="4535424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47080"/>
                </a:solidFill>
                <a:latin typeface="Aptos"/>
              </a:rPr>
              <a:t>Waiting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74336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D3A"/>
                </a:solidFill>
                <a:latin typeface="Aptos"/>
              </a:rPr>
              <a:t>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974336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ITR 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4946904"/>
            <a:ext cx="1143000" cy="310896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5112" y="4974336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47080"/>
                </a:solidFill>
                <a:latin typeface="Aptos"/>
              </a:rPr>
              <a:t>Assigned to staff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429000"/>
            <a:ext cx="3383280" cy="2148840"/>
          </a:xfrm>
          <a:prstGeom prst="roundRect">
            <a:avLst>
              <a:gd name="adj" fmla="val 8000"/>
            </a:avLst>
          </a:prstGeom>
          <a:solidFill>
            <a:srgbClr val="192D4B"/>
          </a:solidFill>
          <a:ln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3675887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MANAGER 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16052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“What needs my attention?”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89204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D2DCEB"/>
                </a:solidFill>
                <a:latin typeface="Aptos"/>
              </a:rPr>
              <a:t>answered in one screen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FUNCTION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Client management — one clean client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Keep client details, status and tax work connected.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8580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CLIENT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420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54203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420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ABC Traders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97180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Business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944368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7F7EF"/>
          </a:solidFill>
          <a:ln>
            <a:solidFill>
              <a:srgbClr val="E7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971800"/>
            <a:ext cx="7680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2A069"/>
                </a:solidFill>
                <a:latin typeface="Aptos"/>
              </a:rPr>
              <a:t>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2944368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BF3FD"/>
          </a:solidFill>
          <a:ln>
            <a:solidFill>
              <a:srgbClr val="EB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8152" y="2971800"/>
            <a:ext cx="539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D73D2"/>
                </a:solidFill>
                <a:latin typeface="Aptos"/>
              </a:rPr>
              <a:t>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49039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Sharma &amp; 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49039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Business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721607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7F7EF"/>
          </a:solidFill>
          <a:ln>
            <a:solidFill>
              <a:srgbClr val="E7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749039"/>
            <a:ext cx="7680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2A069"/>
                </a:solidFill>
                <a:latin typeface="Aptos"/>
              </a:rPr>
              <a:t>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3721607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BF3FD"/>
          </a:solidFill>
          <a:ln>
            <a:solidFill>
              <a:srgbClr val="EB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88152" y="3749039"/>
            <a:ext cx="539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D73D2"/>
                </a:solidFill>
                <a:latin typeface="Aptos"/>
              </a:rPr>
              <a:t>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Riya Enterprises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52628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Individual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498848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7F7EF"/>
          </a:solidFill>
          <a:ln>
            <a:solidFill>
              <a:srgbClr val="E7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4526280"/>
            <a:ext cx="7680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2A069"/>
                </a:solidFill>
                <a:latin typeface="Aptos"/>
              </a:rPr>
              <a:t>Pending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4498848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BF3FD"/>
          </a:solidFill>
          <a:ln>
            <a:solidFill>
              <a:srgbClr val="EB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88152" y="4526280"/>
            <a:ext cx="539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D73D2"/>
                </a:solidFill>
                <a:latin typeface="Aptos"/>
              </a:rPr>
              <a:t>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1828800"/>
            <a:ext cx="3611880" cy="4069080"/>
          </a:xfrm>
          <a:prstGeom prst="roundRect">
            <a:avLst>
              <a:gd name="adj" fmla="val 8000"/>
            </a:avLst>
          </a:prstGeom>
          <a:solidFill>
            <a:srgbClr val="192D4B"/>
          </a:solidFill>
          <a:ln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21488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9CDE6"/>
                </a:solidFill>
                <a:latin typeface="Aptos"/>
              </a:rPr>
              <a:t>WHY IT HELPS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0" y="2743200"/>
            <a:ext cx="347472" cy="34747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761488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276148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Less searching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0" y="3364992"/>
            <a:ext cx="347472" cy="34747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383280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33832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Clear client ownership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0" y="3986784"/>
            <a:ext cx="347472" cy="34747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005072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400507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Quick status check</a:t>
            </a:r>
          </a:p>
        </p:txBody>
      </p:sp>
      <p:sp>
        <p:nvSpPr>
          <p:cNvPr id="41" name="Oval 40"/>
          <p:cNvSpPr/>
          <p:nvPr/>
        </p:nvSpPr>
        <p:spPr>
          <a:xfrm>
            <a:off x="8229600" y="4608576"/>
            <a:ext cx="347472" cy="34747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626864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6268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Ready for future growth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FUNCTION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GST &amp; ITR — turn filing into a trackable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The system shows what is pending, in progress, reviewed and filed.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2A069"/>
                </a:solidFill>
                <a:latin typeface="Aptos"/>
              </a:rPr>
              <a:t>GST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514600"/>
            <a:ext cx="4114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7008" y="2578608"/>
            <a:ext cx="347472" cy="34747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5968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6334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Data ready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990088"/>
            <a:ext cx="0" cy="182880"/>
          </a:xfrm>
          <a:prstGeom prst="line">
            <a:avLst/>
          </a:prstGeom>
          <a:ln w="19050">
            <a:solidFill>
              <a:srgbClr val="32A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51560" y="3200400"/>
            <a:ext cx="4114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8" y="3264408"/>
            <a:ext cx="347472" cy="34747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2826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33192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Prepare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3675887"/>
            <a:ext cx="0" cy="182881"/>
          </a:xfrm>
          <a:prstGeom prst="line">
            <a:avLst/>
          </a:prstGeom>
          <a:ln w="19050">
            <a:solidFill>
              <a:srgbClr val="32A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51560" y="3886200"/>
            <a:ext cx="4114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07008" y="3950208"/>
            <a:ext cx="347472" cy="34747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39684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40050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4361688"/>
            <a:ext cx="0" cy="182880"/>
          </a:xfrm>
          <a:prstGeom prst="line">
            <a:avLst/>
          </a:prstGeom>
          <a:ln w="19050">
            <a:solidFill>
              <a:srgbClr val="32A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1560" y="4572000"/>
            <a:ext cx="4114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7008" y="4636008"/>
            <a:ext cx="347472" cy="34747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46542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46908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Filed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85ABE"/>
                </a:solidFill>
                <a:latin typeface="Aptos"/>
              </a:rPr>
              <a:t>ITR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514600"/>
            <a:ext cx="4114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0568" y="2578608"/>
            <a:ext cx="347472" cy="347472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25968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2" y="26334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Details ready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2520" y="2990088"/>
            <a:ext cx="0" cy="182880"/>
          </a:xfrm>
          <a:prstGeom prst="line">
            <a:avLst/>
          </a:prstGeom>
          <a:ln w="19050">
            <a:solidFill>
              <a:srgbClr val="785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675120" y="3200400"/>
            <a:ext cx="4114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30568" y="3264408"/>
            <a:ext cx="347472" cy="347472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0568" y="32826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2632" y="33192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Prepare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32520" y="3675887"/>
            <a:ext cx="0" cy="182881"/>
          </a:xfrm>
          <a:prstGeom prst="line">
            <a:avLst/>
          </a:prstGeom>
          <a:ln w="19050">
            <a:solidFill>
              <a:srgbClr val="785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675120" y="3886200"/>
            <a:ext cx="4114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30568" y="3950208"/>
            <a:ext cx="347472" cy="347472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0568" y="39684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2632" y="40050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Review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32520" y="4361688"/>
            <a:ext cx="0" cy="182880"/>
          </a:xfrm>
          <a:prstGeom prst="line">
            <a:avLst/>
          </a:prstGeom>
          <a:ln w="19050">
            <a:solidFill>
              <a:srgbClr val="785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675120" y="4572000"/>
            <a:ext cx="41148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30568" y="4636008"/>
            <a:ext cx="347472" cy="347472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0568" y="46542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2632" y="46908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Filed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44068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559612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Key benefit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5577840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Work can be created and tracked for many clients instead of handling every case from scratch.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FUNCTION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Task management — everyone knows what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Assign work to a person, give it a due date and track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84831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12263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D73D2"/>
                </a:solidFill>
                <a:latin typeface="Aptos"/>
              </a:rPr>
              <a:t>TO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2880360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889504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Collect bank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1729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080"/>
                </a:solidFill>
                <a:latin typeface="Aptos"/>
              </a:rPr>
              <a:t>Client • Due date</a:t>
            </a:r>
          </a:p>
        </p:txBody>
      </p:sp>
      <p:sp>
        <p:nvSpPr>
          <p:cNvPr id="12" name="Oval 11"/>
          <p:cNvSpPr/>
          <p:nvPr/>
        </p:nvSpPr>
        <p:spPr>
          <a:xfrm>
            <a:off x="3355848" y="2926080"/>
            <a:ext cx="365760" cy="365760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944368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94760"/>
            <a:ext cx="2880360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941064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Prepare GST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22452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080"/>
                </a:solidFill>
                <a:latin typeface="Aptos"/>
              </a:rPr>
              <a:t>Client • Due date</a:t>
            </a:r>
          </a:p>
        </p:txBody>
      </p:sp>
      <p:sp>
        <p:nvSpPr>
          <p:cNvPr id="17" name="Oval 16"/>
          <p:cNvSpPr/>
          <p:nvPr/>
        </p:nvSpPr>
        <p:spPr>
          <a:xfrm>
            <a:off x="3355848" y="3977640"/>
            <a:ext cx="365760" cy="365760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3995928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828800"/>
            <a:ext cx="33375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09160" y="2084831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2112263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B9137"/>
                </a:solidFill>
                <a:latin typeface="Aptos"/>
              </a:rPr>
              <a:t>IN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743200"/>
            <a:ext cx="2880360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2889504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Review GSTR-3B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31729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080"/>
                </a:solidFill>
                <a:latin typeface="Aptos"/>
              </a:rPr>
              <a:t>Client • Due date</a:t>
            </a:r>
          </a:p>
        </p:txBody>
      </p:sp>
      <p:sp>
        <p:nvSpPr>
          <p:cNvPr id="25" name="Oval 24"/>
          <p:cNvSpPr/>
          <p:nvPr/>
        </p:nvSpPr>
        <p:spPr>
          <a:xfrm>
            <a:off x="7150608" y="2926080"/>
            <a:ext cx="365760" cy="365760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0608" y="2944368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3794760"/>
            <a:ext cx="2880360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3941064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Prepare ITR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422452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080"/>
                </a:solidFill>
                <a:latin typeface="Aptos"/>
              </a:rPr>
              <a:t>Client • Due date</a:t>
            </a:r>
          </a:p>
        </p:txBody>
      </p:sp>
      <p:sp>
        <p:nvSpPr>
          <p:cNvPr id="30" name="Oval 29"/>
          <p:cNvSpPr/>
          <p:nvPr/>
        </p:nvSpPr>
        <p:spPr>
          <a:xfrm>
            <a:off x="7150608" y="3977640"/>
            <a:ext cx="365760" cy="365760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0608" y="3995928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1828800"/>
            <a:ext cx="33375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03920" y="2084831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2112263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2A069"/>
                </a:solidFill>
                <a:latin typeface="Aptos"/>
              </a:rPr>
              <a:t>COMPLETED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2743200"/>
            <a:ext cx="2880360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14232" y="2889504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ABC ITR filed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31729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080"/>
                </a:solidFill>
                <a:latin typeface="Aptos"/>
              </a:rPr>
              <a:t>Client • Due date</a:t>
            </a:r>
          </a:p>
        </p:txBody>
      </p:sp>
      <p:sp>
        <p:nvSpPr>
          <p:cNvPr id="38" name="Oval 37"/>
          <p:cNvSpPr/>
          <p:nvPr/>
        </p:nvSpPr>
        <p:spPr>
          <a:xfrm>
            <a:off x="10945368" y="2926080"/>
            <a:ext cx="365760" cy="365760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45368" y="2944368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3794760"/>
            <a:ext cx="2880360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14232" y="3941064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GST return filed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4232" y="422452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080"/>
                </a:solidFill>
                <a:latin typeface="Aptos"/>
              </a:rPr>
              <a:t>Client • Due date</a:t>
            </a:r>
          </a:p>
        </p:txBody>
      </p:sp>
      <p:sp>
        <p:nvSpPr>
          <p:cNvPr id="43" name="Oval 42"/>
          <p:cNvSpPr/>
          <p:nvPr/>
        </p:nvSpPr>
        <p:spPr>
          <a:xfrm>
            <a:off x="10945368" y="3977640"/>
            <a:ext cx="365760" cy="365760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45368" y="3995928"/>
            <a:ext cx="365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98932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2D4B"/>
                </a:solidFill>
                <a:latin typeface="Aptos"/>
              </a:rPr>
              <a:t>Manager benefit: workload becomes visible — no need to chase people for every update.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FUNCTION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Documents &amp; client portal — make document exchange easier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Clients and staff can work from a shared, controlled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166360" cy="3886200"/>
          </a:xfrm>
          <a:prstGeom prst="roundRect">
            <a:avLst>
              <a:gd name="adj" fmla="val 8000"/>
            </a:avLst>
          </a:prstGeom>
          <a:solidFill>
            <a:srgbClr val="192D4B"/>
          </a:solidFill>
          <a:ln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DOCUMENT VAULT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4526280" cy="411480"/>
          </a:xfrm>
          <a:prstGeom prst="roundRect">
            <a:avLst>
              <a:gd name="adj" fmla="val 8000"/>
            </a:avLst>
          </a:prstGeom>
          <a:solidFill>
            <a:srgbClr val="2D415F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788920"/>
            <a:ext cx="548640" cy="310896"/>
          </a:xfrm>
          <a:prstGeom prst="roundRect">
            <a:avLst>
              <a:gd name="adj" fmla="val 8000"/>
            </a:avLst>
          </a:prstGeom>
          <a:solidFill>
            <a:srgbClr val="465F82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816351"/>
            <a:ext cx="40233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843784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GST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10128"/>
            <a:ext cx="4526280" cy="411480"/>
          </a:xfrm>
          <a:prstGeom prst="roundRect">
            <a:avLst>
              <a:gd name="adj" fmla="val 8000"/>
            </a:avLst>
          </a:prstGeom>
          <a:solidFill>
            <a:srgbClr val="2D415F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3355848"/>
            <a:ext cx="548640" cy="310896"/>
          </a:xfrm>
          <a:prstGeom prst="roundRect">
            <a:avLst>
              <a:gd name="adj" fmla="val 8000"/>
            </a:avLst>
          </a:prstGeom>
          <a:solidFill>
            <a:srgbClr val="465F82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3383279"/>
            <a:ext cx="40233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41071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Income-tax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77056"/>
            <a:ext cx="4526280" cy="411480"/>
          </a:xfrm>
          <a:prstGeom prst="roundRect">
            <a:avLst>
              <a:gd name="adj" fmla="val 8000"/>
            </a:avLst>
          </a:prstGeom>
          <a:solidFill>
            <a:srgbClr val="2D415F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3922776"/>
            <a:ext cx="548640" cy="310896"/>
          </a:xfrm>
          <a:prstGeom prst="roundRect">
            <a:avLst>
              <a:gd name="adj" fmla="val 8000"/>
            </a:avLst>
          </a:prstGeom>
          <a:solidFill>
            <a:srgbClr val="465F82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950208"/>
            <a:ext cx="40233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KYC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977640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KYC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43983"/>
            <a:ext cx="4526280" cy="411480"/>
          </a:xfrm>
          <a:prstGeom prst="roundRect">
            <a:avLst>
              <a:gd name="adj" fmla="val 8000"/>
            </a:avLst>
          </a:prstGeom>
          <a:solidFill>
            <a:srgbClr val="2D415F"/>
          </a:solidFill>
          <a:ln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489703"/>
            <a:ext cx="548640" cy="310896"/>
          </a:xfrm>
          <a:prstGeom prst="roundRect">
            <a:avLst>
              <a:gd name="adj" fmla="val 8000"/>
            </a:avLst>
          </a:prstGeom>
          <a:solidFill>
            <a:srgbClr val="465F82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4517136"/>
            <a:ext cx="40233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4456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Financial statements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828800"/>
            <a:ext cx="534924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1214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D4B"/>
                </a:solidFill>
                <a:latin typeface="Aptos"/>
              </a:rPr>
              <a:t>CLIENT PORTAL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2743200"/>
            <a:ext cx="384048" cy="384048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761488"/>
            <a:ext cx="384048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07208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Client sees request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3364992"/>
            <a:ext cx="384048" cy="384048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383280"/>
            <a:ext cx="384048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429000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Client uploads document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3986784"/>
            <a:ext cx="384048" cy="384048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005072"/>
            <a:ext cx="384048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050792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Staff reviews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4608576"/>
            <a:ext cx="384048" cy="384048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626864"/>
            <a:ext cx="384048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672584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2D4B"/>
                </a:solidFill>
                <a:latin typeface="Aptos"/>
              </a:rPr>
              <a:t>Document stays with the client 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321808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Result: fewer email attachments and fewer “please resend this file” conversations.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FUNCTION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Run the office — deadlines, people and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Taxoryn also covers the everyday operations around tax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1663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12848"/>
            <a:ext cx="621792" cy="621792"/>
          </a:xfrm>
          <a:prstGeom prst="ellipse">
            <a:avLst/>
          </a:prstGeom>
          <a:solidFill>
            <a:srgbClr val="D74B4B"/>
          </a:solidFill>
          <a:ln>
            <a:solidFill>
              <a:srgbClr val="D7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31136"/>
            <a:ext cx="62179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39" y="212140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ptos"/>
              </a:rPr>
              <a:t>Compliance Calendar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39" y="2542032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See important filing dates and what is coming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663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212848"/>
            <a:ext cx="621792" cy="621792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31136"/>
            <a:ext cx="62179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2140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ptos"/>
              </a:rPr>
              <a:t>Team &amp;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542032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Know who works in the practice and what access they have.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1663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133087"/>
            <a:ext cx="621792" cy="621792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51375"/>
            <a:ext cx="62179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39" y="404164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ptos"/>
              </a:rPr>
              <a:t>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39" y="4462272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Manage invoices and fee-related work in the same system.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49039"/>
            <a:ext cx="51663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4133087"/>
            <a:ext cx="621792" cy="621792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51375"/>
            <a:ext cx="62179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04164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ptos"/>
              </a:rPr>
              <a:t>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462272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Keep a record of important actions for accountability.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73D2"/>
                </a:solidFill>
                <a:latin typeface="Aptos"/>
              </a:rPr>
              <a:t>Think of it as the office operating system — not only a tax filing screen.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FUNCTION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Built for a professional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The design supports controlled access and can serve multiple organizations.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00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65960" y="2148840"/>
            <a:ext cx="685800" cy="685800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2167128"/>
            <a:ext cx="6858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Controlled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080"/>
                </a:solidFill>
                <a:latin typeface="Aptos"/>
              </a:rPr>
              <a:t>Users only see the areas and information they are allowed to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00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0" y="2148840"/>
            <a:ext cx="685800" cy="685800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167128"/>
            <a:ext cx="6858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632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Separate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65760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080"/>
                </a:solidFill>
                <a:latin typeface="Aptos"/>
              </a:rPr>
              <a:t>The platform is designed so one software setup can support multiple practices.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3200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2148840"/>
            <a:ext cx="685800" cy="685800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167128"/>
            <a:ext cx="6858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0632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Traceable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65760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080"/>
                </a:solidFill>
                <a:latin typeface="Aptos"/>
              </a:rPr>
              <a:t>Important actions can be recorded so the practice has better accountability.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8978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92D4B"/>
                </a:solidFill>
                <a:latin typeface="Aptos"/>
              </a:rPr>
              <a:t>Business message: secure enough for professional use, simple enough for daily 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73D2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Aptos"/>
              </a:rPr>
              <a:t>A simple client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From onboarding to filing, the system keeps the story connected.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148840"/>
            <a:ext cx="658368" cy="658368"/>
          </a:xfrm>
          <a:prstGeom prst="ellipse">
            <a:avLst/>
          </a:prstGeom>
          <a:solidFill>
            <a:srgbClr val="2D73D2"/>
          </a:solidFill>
          <a:ln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67128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992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D4B"/>
                </a:solidFill>
                <a:latin typeface="Aptos"/>
              </a:rPr>
              <a:t>Add client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91640" y="2487168"/>
            <a:ext cx="640080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26080" y="2148840"/>
            <a:ext cx="658368" cy="658368"/>
          </a:xfrm>
          <a:prstGeom prst="ellipse">
            <a:avLst/>
          </a:prstGeom>
          <a:solidFill>
            <a:srgbClr val="32AFBE"/>
          </a:solidFill>
          <a:ln>
            <a:solidFill>
              <a:srgbClr val="32A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167128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9992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D4B"/>
                </a:solidFill>
                <a:latin typeface="Aptos"/>
              </a:rPr>
              <a:t>Collect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11880" y="2487168"/>
            <a:ext cx="640080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846320" y="2148840"/>
            <a:ext cx="658368" cy="658368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167128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9992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D4B"/>
                </a:solidFill>
                <a:latin typeface="Aptos"/>
              </a:rPr>
              <a:t>Assign work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32120" y="2487168"/>
            <a:ext cx="640080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66560" y="2148840"/>
            <a:ext cx="658368" cy="658368"/>
          </a:xfrm>
          <a:prstGeom prst="ellipse">
            <a:avLst/>
          </a:prstGeom>
          <a:solidFill>
            <a:srgbClr val="785ABE"/>
          </a:solidFill>
          <a:ln>
            <a:solidFill>
              <a:srgbClr val="78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167128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992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D4B"/>
                </a:solidFill>
                <a:latin typeface="Aptos"/>
              </a:rPr>
              <a:t>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2360" y="2487168"/>
            <a:ext cx="640080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686800" y="2148840"/>
            <a:ext cx="658368" cy="658368"/>
          </a:xfrm>
          <a:prstGeom prst="ellipse">
            <a:avLst/>
          </a:prstGeom>
          <a:solidFill>
            <a:srgbClr val="32A069"/>
          </a:solidFill>
          <a:ln>
            <a:solidFill>
              <a:srgbClr val="32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167128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9992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D4B"/>
                </a:solidFill>
                <a:latin typeface="Aptos"/>
              </a:rPr>
              <a:t>File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487168"/>
            <a:ext cx="640080" cy="0"/>
          </a:xfrm>
          <a:prstGeom prst="line">
            <a:avLst/>
          </a:prstGeom>
          <a:ln w="381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607040" y="2148840"/>
            <a:ext cx="658368" cy="658368"/>
          </a:xfrm>
          <a:prstGeom prst="ellipse">
            <a:avLst/>
          </a:prstGeom>
          <a:solidFill>
            <a:srgbClr val="192D4B"/>
          </a:solidFill>
          <a:ln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2167128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9992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2D4B"/>
                </a:solidFill>
                <a:latin typeface="Aptos"/>
              </a:rPr>
              <a:t>Keep record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069080"/>
            <a:ext cx="4480560" cy="132588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>
            <a:solidFill>
              <a:srgbClr val="F5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2976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74B4B"/>
                </a:solidFill>
                <a:latin typeface="Aptos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7091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B"/>
                </a:solidFill>
                <a:latin typeface="Aptos"/>
              </a:rPr>
              <a:t>Email + Excel + folders + follow-ups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069080"/>
            <a:ext cx="4480560" cy="1325880"/>
          </a:xfrm>
          <a:prstGeom prst="roundRect">
            <a:avLst>
              <a:gd name="adj" fmla="val 8000"/>
            </a:avLst>
          </a:prstGeom>
          <a:solidFill>
            <a:srgbClr val="EFF9F4"/>
          </a:solidFill>
          <a:ln>
            <a:solidFill>
              <a:srgbClr val="D7E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42976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A069"/>
                </a:solidFill>
                <a:latin typeface="Aptos"/>
              </a:rPr>
              <a:t>WITH TAXORYN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7091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2D4B"/>
                </a:solidFill>
                <a:latin typeface="Aptos"/>
              </a:rPr>
              <a:t>One connected workflow + clear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AFBE"/>
                </a:solidFill>
                <a:latin typeface="Aptos"/>
              </a:rPr>
              <a:t>CLIENT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What changes for the practice?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233A5A"/>
          </a:solidFill>
          <a:ln>
            <a:solidFill>
              <a:srgbClr val="415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Save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450592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9E8"/>
                </a:solidFill>
                <a:latin typeface="Aptos"/>
              </a:rPr>
              <a:t>Less searching and fewer manual follow-ups.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233A5A"/>
          </a:solidFill>
          <a:ln>
            <a:solidFill>
              <a:srgbClr val="415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8072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More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2450592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9E8"/>
                </a:solidFill>
                <a:latin typeface="Aptos"/>
              </a:rPr>
              <a:t>Partners can see work status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233A5A"/>
          </a:solidFill>
          <a:ln>
            <a:solidFill>
              <a:srgbClr val="415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1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Fewer missed 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2450592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9E8"/>
                </a:solidFill>
                <a:latin typeface="Aptos"/>
              </a:rPr>
              <a:t>Deadlines are visible in one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49039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233A5A"/>
          </a:solidFill>
          <a:ln>
            <a:solidFill>
              <a:srgbClr val="415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319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9319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Better client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370831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9E8"/>
                </a:solidFill>
                <a:latin typeface="Aptos"/>
              </a:rPr>
              <a:t>Clients have a clearer way to share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49039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233A5A"/>
          </a:solidFill>
          <a:ln>
            <a:solidFill>
              <a:srgbClr val="415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9319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39319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Ready to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4370831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9E8"/>
                </a:solidFill>
                <a:latin typeface="Aptos"/>
              </a:rPr>
              <a:t>More clients can be managed with a consistent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749039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233A5A"/>
          </a:solidFill>
          <a:ln>
            <a:solidFill>
              <a:srgbClr val="415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39319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1" y="39319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Better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1" y="4370831"/>
            <a:ext cx="2240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9E8"/>
                </a:solidFill>
                <a:latin typeface="Aptos"/>
              </a:rPr>
              <a:t>Documents, actions and billing stay organized.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Bottom line: less operational effort, more control, better service.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D73D2"/>
                </a:solidFill>
                <a:latin typeface="Aptos"/>
              </a:rPr>
              <a:t>TAXORYN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92D4B"/>
                </a:solidFill>
                <a:latin typeface="Aptos"/>
              </a:rPr>
              <a:t>From scattered work to one simple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47080"/>
                </a:solidFill>
                <a:latin typeface="Aptos"/>
              </a:rPr>
              <a:t>A practical platform for managing the tax practice, the team and the client relationship.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73D2"/>
                </a:solidFill>
                <a:latin typeface="Aptos"/>
              </a:rPr>
              <a:t>ONE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Clients • work •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65760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73D2"/>
                </a:solidFill>
                <a:latin typeface="Aptos"/>
              </a:rPr>
              <a:t>ONE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2976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Status • deadlines • workload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65760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73D2"/>
                </a:solidFill>
                <a:latin typeface="Aptos"/>
              </a:rPr>
              <a:t>ONE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2976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Collect → work → review →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65760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73D2"/>
                </a:solidFill>
                <a:latin typeface="Aptos"/>
              </a:rPr>
              <a:t>ONE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2976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080"/>
                </a:solidFill>
                <a:latin typeface="Aptos"/>
              </a:rPr>
              <a:t>Simple for staff and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2D4B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